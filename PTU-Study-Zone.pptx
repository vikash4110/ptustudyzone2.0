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" name="Shape 8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864036" y="2449948"/>
            <a:ext cx="7419852" cy="1038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8300"/>
              </a:lnSpc>
              <a:defRPr b="1" sz="67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PTU STUDY ZONE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864036" y="3884889"/>
            <a:ext cx="7415929" cy="115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PTU Study Zone is a comprehensive resource hub for PTU students, designed to address the lack of centralized resources and communication gaps within the university.</a:t>
            </a:r>
          </a:p>
        </p:txBody>
      </p:sp>
      <p:sp>
        <p:nvSpPr>
          <p:cNvPr id="85" name="Shape 2"/>
          <p:cNvSpPr/>
          <p:nvPr/>
        </p:nvSpPr>
        <p:spPr>
          <a:xfrm>
            <a:off x="864036" y="5366146"/>
            <a:ext cx="394931" cy="394931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3"/>
          <p:cNvSpPr txBox="1"/>
          <p:nvPr/>
        </p:nvSpPr>
        <p:spPr>
          <a:xfrm>
            <a:off x="1382316" y="5347692"/>
            <a:ext cx="5123310" cy="415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By Vikash Bharal and Sahil Jamwal</a:t>
            </a:r>
          </a:p>
        </p:txBody>
      </p:sp>
      <p:pic>
        <p:nvPicPr>
          <p:cNvPr id="87" name="Screenshot 2024-09-14 at 9.48.25 PM.png" descr="Screenshot 2024-09-14 at 9.48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4882" y="-1"/>
            <a:ext cx="5829301" cy="822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0"/>
          <p:cNvSpPr txBox="1"/>
          <p:nvPr/>
        </p:nvSpPr>
        <p:spPr>
          <a:xfrm>
            <a:off x="6229399" y="750619"/>
            <a:ext cx="7686438" cy="634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100"/>
              </a:lnSpc>
              <a:defRPr b="1" sz="40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Why We Need PTU Study Zone</a:t>
            </a:r>
          </a:p>
        </p:txBody>
      </p:sp>
      <p:sp>
        <p:nvSpPr>
          <p:cNvPr id="91" name="Shape 1"/>
          <p:cNvSpPr/>
          <p:nvPr/>
        </p:nvSpPr>
        <p:spPr>
          <a:xfrm>
            <a:off x="6215122" y="1621343"/>
            <a:ext cx="468512" cy="46851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2"/>
          <p:cNvSpPr txBox="1"/>
          <p:nvPr/>
        </p:nvSpPr>
        <p:spPr>
          <a:xfrm>
            <a:off x="6358269" y="1698629"/>
            <a:ext cx="182217" cy="31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3" name="Text 3"/>
          <p:cNvSpPr txBox="1"/>
          <p:nvPr/>
        </p:nvSpPr>
        <p:spPr>
          <a:xfrm>
            <a:off x="6835060" y="1699391"/>
            <a:ext cx="3711080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Lack of Centralized Resources</a:t>
            </a:r>
          </a:p>
        </p:txBody>
      </p:sp>
      <p:sp>
        <p:nvSpPr>
          <p:cNvPr id="94" name="Text 4"/>
          <p:cNvSpPr txBox="1"/>
          <p:nvPr/>
        </p:nvSpPr>
        <p:spPr>
          <a:xfrm>
            <a:off x="6891932" y="2197418"/>
            <a:ext cx="7009687" cy="229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60421" indent="-160421">
              <a:lnSpc>
                <a:spcPts val="2600"/>
              </a:lnSpc>
              <a:buSzPct val="100000"/>
              <a:buChar char="•"/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PTU lacks a centralized platform for students to access academic resources like syllabus, PYQs, Books and curated YouTube channels.</a:t>
            </a:r>
          </a:p>
          <a:p>
            <a:pPr marL="160421" indent="-160421">
              <a:lnSpc>
                <a:spcPts val="2600"/>
              </a:lnSpc>
              <a:buSzPct val="100000"/>
              <a:buChar char="•"/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Especially in the first year, students often feel lost, not knowing what to study, where to find reliable academic content, and how to stay on track</a:t>
            </a:r>
          </a:p>
          <a:p>
            <a:pPr marL="160421" indent="-160421">
              <a:lnSpc>
                <a:spcPts val="2600"/>
              </a:lnSpc>
              <a:buSzPct val="100000"/>
              <a:buChar char="•"/>
              <a:defRPr sz="17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There is no online system for students to directly communicate their problems or concerns to the Head of Department (HOD), creating a disconnect.</a:t>
            </a:r>
          </a:p>
        </p:txBody>
      </p:sp>
      <p:sp>
        <p:nvSpPr>
          <p:cNvPr id="95" name="Shape 5"/>
          <p:cNvSpPr/>
          <p:nvPr/>
        </p:nvSpPr>
        <p:spPr>
          <a:xfrm>
            <a:off x="6215122" y="4597073"/>
            <a:ext cx="468512" cy="46851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6"/>
          <p:cNvSpPr txBox="1"/>
          <p:nvPr/>
        </p:nvSpPr>
        <p:spPr>
          <a:xfrm>
            <a:off x="6358269" y="4674360"/>
            <a:ext cx="182217" cy="31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7" name="Text 7"/>
          <p:cNvSpPr txBox="1"/>
          <p:nvPr/>
        </p:nvSpPr>
        <p:spPr>
          <a:xfrm>
            <a:off x="6849278" y="4675121"/>
            <a:ext cx="4331569" cy="31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Comparison with Other Universities</a:t>
            </a:r>
          </a:p>
        </p:txBody>
      </p:sp>
      <p:sp>
        <p:nvSpPr>
          <p:cNvPr id="98" name="Text 8"/>
          <p:cNvSpPr txBox="1"/>
          <p:nvPr/>
        </p:nvSpPr>
        <p:spPr>
          <a:xfrm>
            <a:off x="6891932" y="5128925"/>
            <a:ext cx="7009687" cy="977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60421" indent="-160421">
              <a:lnSpc>
                <a:spcPts val="2600"/>
              </a:lnSpc>
              <a:buSzPct val="100000"/>
              <a:buChar char="•"/>
              <a:defRPr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Universities like LPU have centralized web apps with integrated study materials, student-teacher interactions, and other academic resources.</a:t>
            </a:r>
          </a:p>
        </p:txBody>
      </p:sp>
      <p:sp>
        <p:nvSpPr>
          <p:cNvPr id="99" name="Shape 9"/>
          <p:cNvSpPr/>
          <p:nvPr/>
        </p:nvSpPr>
        <p:spPr>
          <a:xfrm>
            <a:off x="6215122" y="6169398"/>
            <a:ext cx="468512" cy="46851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10"/>
          <p:cNvSpPr txBox="1"/>
          <p:nvPr/>
        </p:nvSpPr>
        <p:spPr>
          <a:xfrm>
            <a:off x="6358269" y="6246685"/>
            <a:ext cx="182217" cy="31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1" name="Text 11"/>
          <p:cNvSpPr txBox="1"/>
          <p:nvPr/>
        </p:nvSpPr>
        <p:spPr>
          <a:xfrm>
            <a:off x="6934586" y="6247446"/>
            <a:ext cx="2496395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Communication Gap</a:t>
            </a:r>
          </a:p>
        </p:txBody>
      </p:sp>
      <p:sp>
        <p:nvSpPr>
          <p:cNvPr id="102" name="Text 12"/>
          <p:cNvSpPr txBox="1"/>
          <p:nvPr/>
        </p:nvSpPr>
        <p:spPr>
          <a:xfrm>
            <a:off x="6891932" y="6657025"/>
            <a:ext cx="7009687" cy="977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60421" indent="-160421">
              <a:lnSpc>
                <a:spcPts val="2600"/>
              </a:lnSpc>
              <a:buSzPct val="100000"/>
              <a:buChar char="•"/>
              <a:defRPr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At PTU, there is a lack of community support among students. Students often feel isolated, with no direct communication channel to voice their grievances or connect with faculty.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2684164" y="3270219"/>
            <a:ext cx="9802318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b="1" sz="4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Problems PTU Study Zone Solves</a:t>
            </a:r>
          </a:p>
        </p:txBody>
      </p:sp>
      <p:sp>
        <p:nvSpPr>
          <p:cNvPr id="105" name="Shape 1"/>
          <p:cNvSpPr/>
          <p:nvPr/>
        </p:nvSpPr>
        <p:spPr>
          <a:xfrm>
            <a:off x="864036" y="4409330"/>
            <a:ext cx="6327816" cy="2638188"/>
          </a:xfrm>
          <a:prstGeom prst="roundRect">
            <a:avLst>
              <a:gd name="adj" fmla="val 3930"/>
            </a:avLst>
          </a:prstGeom>
          <a:solidFill>
            <a:srgbClr val="D2DDF9"/>
          </a:solidFill>
          <a:ln w="1524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2"/>
          <p:cNvSpPr txBox="1"/>
          <p:nvPr/>
        </p:nvSpPr>
        <p:spPr>
          <a:xfrm>
            <a:off x="1126093" y="4675355"/>
            <a:ext cx="3619848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All-in-One Resource Hub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1126093" y="5179525"/>
            <a:ext cx="5803703" cy="1551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PTU Study Zone provides a single platform for accessing syllabus, PYQs, curated YouTube channels, a blog section, and a Student Grievances section.</a:t>
            </a:r>
          </a:p>
        </p:txBody>
      </p:sp>
      <p:sp>
        <p:nvSpPr>
          <p:cNvPr id="108" name="Shape 4"/>
          <p:cNvSpPr/>
          <p:nvPr/>
        </p:nvSpPr>
        <p:spPr>
          <a:xfrm>
            <a:off x="7438667" y="4409330"/>
            <a:ext cx="6327816" cy="2638188"/>
          </a:xfrm>
          <a:prstGeom prst="roundRect">
            <a:avLst>
              <a:gd name="adj" fmla="val 3930"/>
            </a:avLst>
          </a:prstGeom>
          <a:solidFill>
            <a:srgbClr val="D2DDF9"/>
          </a:solidFill>
          <a:ln w="15240">
            <a:solidFill>
              <a:srgbClr val="B8C3D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5"/>
          <p:cNvSpPr txBox="1"/>
          <p:nvPr/>
        </p:nvSpPr>
        <p:spPr>
          <a:xfrm>
            <a:off x="7700723" y="4675355"/>
            <a:ext cx="2987627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Vision for the Future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7700723" y="5149497"/>
            <a:ext cx="5803703" cy="115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PTU Study Zone aims to bridge the gap between students and faculty by integrating teachers into the platform for real-time interaction and support.</a:t>
            </a:r>
          </a:p>
        </p:txBody>
      </p:sp>
      <p:pic>
        <p:nvPicPr>
          <p:cNvPr id="111" name="mainlogo.png" descr="main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53396" y="728419"/>
            <a:ext cx="3619849" cy="21601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 txBox="1"/>
          <p:nvPr/>
        </p:nvSpPr>
        <p:spPr>
          <a:xfrm>
            <a:off x="5755055" y="212041"/>
            <a:ext cx="3841453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b="1" sz="4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114" name="Text 1"/>
          <p:cNvSpPr txBox="1"/>
          <p:nvPr/>
        </p:nvSpPr>
        <p:spPr>
          <a:xfrm>
            <a:off x="1609699" y="1102570"/>
            <a:ext cx="240749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Syllabus Access</a:t>
            </a:r>
          </a:p>
        </p:txBody>
      </p:sp>
      <p:sp>
        <p:nvSpPr>
          <p:cNvPr id="115" name="Text 2"/>
          <p:cNvSpPr txBox="1"/>
          <p:nvPr/>
        </p:nvSpPr>
        <p:spPr>
          <a:xfrm>
            <a:off x="1617593" y="1568813"/>
            <a:ext cx="9083041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The syllabus for each semester and subject is available in one centralized location, making it easier for students to stay on track.</a:t>
            </a:r>
          </a:p>
        </p:txBody>
      </p:sp>
      <p:sp>
        <p:nvSpPr>
          <p:cNvPr id="116" name="Text 3"/>
          <p:cNvSpPr txBox="1"/>
          <p:nvPr/>
        </p:nvSpPr>
        <p:spPr>
          <a:xfrm>
            <a:off x="1640953" y="2581498"/>
            <a:ext cx="2344986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Books Available</a:t>
            </a:r>
          </a:p>
        </p:txBody>
      </p:sp>
      <p:sp>
        <p:nvSpPr>
          <p:cNvPr id="117" name="Text 4"/>
          <p:cNvSpPr txBox="1"/>
          <p:nvPr/>
        </p:nvSpPr>
        <p:spPr>
          <a:xfrm>
            <a:off x="1610494" y="2939943"/>
            <a:ext cx="7575083" cy="764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 curated collection of recommended books for each subject is provided to enhance student learning.</a:t>
            </a:r>
          </a:p>
        </p:txBody>
      </p:sp>
      <p:sp>
        <p:nvSpPr>
          <p:cNvPr id="118" name="Text 5"/>
          <p:cNvSpPr txBox="1"/>
          <p:nvPr/>
        </p:nvSpPr>
        <p:spPr>
          <a:xfrm>
            <a:off x="1592216" y="3911481"/>
            <a:ext cx="5104692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Previous Year Questions (PYQs)</a:t>
            </a:r>
          </a:p>
        </p:txBody>
      </p:sp>
      <p:sp>
        <p:nvSpPr>
          <p:cNvPr id="119" name="Text 6"/>
          <p:cNvSpPr txBox="1"/>
          <p:nvPr/>
        </p:nvSpPr>
        <p:spPr>
          <a:xfrm>
            <a:off x="1592216" y="4198927"/>
            <a:ext cx="9133795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 repository of previous year question papers for every semester, helping students understand exam patterns and prepare effectively.</a:t>
            </a:r>
          </a:p>
        </p:txBody>
      </p:sp>
      <p:pic>
        <p:nvPicPr>
          <p:cNvPr id="120" name="syllabus.png" descr="syllabu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1867" y="989593"/>
            <a:ext cx="600852" cy="600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book.png" descr="boo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1867" y="2452697"/>
            <a:ext cx="600852" cy="600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yq.png" descr="pyq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4688" y="3807195"/>
            <a:ext cx="615210" cy="6152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blog.png" descr="blog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58109" y="5069838"/>
            <a:ext cx="568369" cy="568369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5"/>
          <p:cNvSpPr txBox="1"/>
          <p:nvPr/>
        </p:nvSpPr>
        <p:spPr>
          <a:xfrm>
            <a:off x="1592216" y="5166573"/>
            <a:ext cx="5104692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Community Support</a:t>
            </a:r>
          </a:p>
        </p:txBody>
      </p:sp>
      <p:sp>
        <p:nvSpPr>
          <p:cNvPr id="125" name="Text 6"/>
          <p:cNvSpPr txBox="1"/>
          <p:nvPr/>
        </p:nvSpPr>
        <p:spPr>
          <a:xfrm>
            <a:off x="1592216" y="5513984"/>
            <a:ext cx="9133795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 blog section where students can share insights, tips, experiences, and learn from others, fostering a sense of community and peer-to-peer learning.</a:t>
            </a:r>
          </a:p>
        </p:txBody>
      </p:sp>
      <p:sp>
        <p:nvSpPr>
          <p:cNvPr id="126" name="Text 5"/>
          <p:cNvSpPr txBox="1"/>
          <p:nvPr/>
        </p:nvSpPr>
        <p:spPr>
          <a:xfrm>
            <a:off x="1592216" y="6421666"/>
            <a:ext cx="5104692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Student Grievances:</a:t>
            </a:r>
          </a:p>
        </p:txBody>
      </p:sp>
      <p:pic>
        <p:nvPicPr>
          <p:cNvPr id="127" name="community.png" descr="community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41858" y="6308681"/>
            <a:ext cx="600849" cy="60084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ext 6"/>
          <p:cNvSpPr txBox="1"/>
          <p:nvPr/>
        </p:nvSpPr>
        <p:spPr>
          <a:xfrm>
            <a:off x="1592216" y="6829041"/>
            <a:ext cx="9133795" cy="115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An online panel where students can submit their complaints and issues, ensuring the HOD is directly informed and can take timely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0"/>
          <p:cNvSpPr txBox="1"/>
          <p:nvPr/>
        </p:nvSpPr>
        <p:spPr>
          <a:xfrm>
            <a:off x="864036" y="505459"/>
            <a:ext cx="5556847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b="1" sz="4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132" name="Shape 2"/>
          <p:cNvSpPr/>
          <p:nvPr/>
        </p:nvSpPr>
        <p:spPr>
          <a:xfrm>
            <a:off x="879277" y="1889998"/>
            <a:ext cx="7385447" cy="228671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5"/>
          <p:cNvSpPr/>
          <p:nvPr/>
        </p:nvSpPr>
        <p:spPr>
          <a:xfrm>
            <a:off x="879277" y="1679330"/>
            <a:ext cx="7385447" cy="647722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8"/>
          <p:cNvSpPr/>
          <p:nvPr/>
        </p:nvSpPr>
        <p:spPr>
          <a:xfrm>
            <a:off x="879277" y="5673328"/>
            <a:ext cx="7385447" cy="70651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5" name="WhatsApp Image 2024-09-09 at 10.15.46.jpeg" descr="WhatsApp Image 2024-09-09 at 10.15.46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60807" y="1908080"/>
            <a:ext cx="6031686" cy="6019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 txBox="1"/>
          <p:nvPr/>
        </p:nvSpPr>
        <p:spPr>
          <a:xfrm>
            <a:off x="582908" y="447416"/>
            <a:ext cx="2521193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Future Vision</a:t>
            </a:r>
          </a:p>
        </p:txBody>
      </p:sp>
      <p:pic>
        <p:nvPicPr>
          <p:cNvPr id="13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5885" y="1281011"/>
            <a:ext cx="539135" cy="539134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 1"/>
          <p:cNvSpPr txBox="1"/>
          <p:nvPr/>
        </p:nvSpPr>
        <p:spPr>
          <a:xfrm>
            <a:off x="1354078" y="1428470"/>
            <a:ext cx="1801596" cy="2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b="1" sz="21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Teacher Panel</a:t>
            </a:r>
          </a:p>
        </p:txBody>
      </p:sp>
      <p:sp>
        <p:nvSpPr>
          <p:cNvPr id="140" name="Text 2"/>
          <p:cNvSpPr txBox="1"/>
          <p:nvPr/>
        </p:nvSpPr>
        <p:spPr>
          <a:xfrm>
            <a:off x="1393238" y="1821269"/>
            <a:ext cx="6115305" cy="489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9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Expand the platform to include a Teacher Panel of</a:t>
            </a:r>
          </a:p>
          <a:p>
            <a:pPr>
              <a:lnSpc>
                <a:spcPts val="19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pPr>
            <a:r>
              <a:t>or real-time communication between students and faculty</a:t>
            </a:r>
          </a:p>
        </p:txBody>
      </p:sp>
      <p:pic>
        <p:nvPicPr>
          <p:cNvPr id="141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9866" y="2817640"/>
            <a:ext cx="531173" cy="531173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 3"/>
          <p:cNvSpPr txBox="1"/>
          <p:nvPr/>
        </p:nvSpPr>
        <p:spPr>
          <a:xfrm>
            <a:off x="1352571" y="2961118"/>
            <a:ext cx="3658599" cy="24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b="1" sz="21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Personalized Learning Paths</a:t>
            </a:r>
          </a:p>
        </p:txBody>
      </p:sp>
      <p:sp>
        <p:nvSpPr>
          <p:cNvPr id="143" name="Text 4"/>
          <p:cNvSpPr txBox="1"/>
          <p:nvPr/>
        </p:nvSpPr>
        <p:spPr>
          <a:xfrm>
            <a:off x="1366789" y="3342068"/>
            <a:ext cx="6864345" cy="7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Future updates will offer personalized learning paths based on each student’s performance, making learning more tailored and effective.</a:t>
            </a:r>
          </a:p>
        </p:txBody>
      </p:sp>
      <p:pic>
        <p:nvPicPr>
          <p:cNvPr id="14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5885" y="4343844"/>
            <a:ext cx="539135" cy="539134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5"/>
          <p:cNvSpPr txBox="1"/>
          <p:nvPr/>
        </p:nvSpPr>
        <p:spPr>
          <a:xfrm>
            <a:off x="1338353" y="4491303"/>
            <a:ext cx="2577214" cy="2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b="1" sz="21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Interactive Materials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1352571" y="4862496"/>
            <a:ext cx="6506172" cy="489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The platform will offer interactive study materials and assignments to make learning more engaging and intuitive.</a:t>
            </a:r>
          </a:p>
        </p:txBody>
      </p:sp>
      <p:pic>
        <p:nvPicPr>
          <p:cNvPr id="147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5885" y="5970719"/>
            <a:ext cx="539135" cy="539135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 7"/>
          <p:cNvSpPr txBox="1"/>
          <p:nvPr/>
        </p:nvSpPr>
        <p:spPr>
          <a:xfrm>
            <a:off x="1309663" y="6118178"/>
            <a:ext cx="2339294" cy="24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800"/>
              </a:lnSpc>
              <a:defRPr b="1" sz="21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Discussion Forum</a:t>
            </a:r>
          </a:p>
        </p:txBody>
      </p:sp>
      <p:sp>
        <p:nvSpPr>
          <p:cNvPr id="149" name="Text 8"/>
          <p:cNvSpPr txBox="1"/>
          <p:nvPr/>
        </p:nvSpPr>
        <p:spPr>
          <a:xfrm>
            <a:off x="1395225" y="6507233"/>
            <a:ext cx="6420864" cy="7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A space where students can ask questions, share resources, collaborate on projects, and support each other in a shared academic journey.</a:t>
            </a:r>
          </a:p>
        </p:txBody>
      </p:sp>
      <p:pic>
        <p:nvPicPr>
          <p:cNvPr id="150" name="Screenshot 2024-09-14 at 9.47.11 PM.png" descr="Screenshot 2024-09-14 at 9.47.11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46825" y="-1"/>
            <a:ext cx="6182287" cy="822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 0"/>
          <p:cNvSpPr txBox="1"/>
          <p:nvPr/>
        </p:nvSpPr>
        <p:spPr>
          <a:xfrm>
            <a:off x="864036" y="1252537"/>
            <a:ext cx="3028555" cy="749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Conclusion</a:t>
            </a:r>
          </a:p>
        </p:txBody>
      </p:sp>
      <p:pic>
        <p:nvPicPr>
          <p:cNvPr id="15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4036" y="2394347"/>
            <a:ext cx="1234441" cy="2607707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1"/>
          <p:cNvSpPr txBox="1"/>
          <p:nvPr/>
        </p:nvSpPr>
        <p:spPr>
          <a:xfrm>
            <a:off x="2468760" y="2641163"/>
            <a:ext cx="89376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Recap</a:t>
            </a:r>
          </a:p>
        </p:txBody>
      </p:sp>
      <p:sp>
        <p:nvSpPr>
          <p:cNvPr id="156" name="Text 2"/>
          <p:cNvSpPr txBox="1"/>
          <p:nvPr/>
        </p:nvSpPr>
        <p:spPr>
          <a:xfrm>
            <a:off x="2468760" y="3175039"/>
            <a:ext cx="5811204" cy="155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PTU Study Zone is a well-rounded platform that solves key problems faced by PTU students, such as the lack of centralized academic resources, communication gaps, and community support.</a:t>
            </a:r>
          </a:p>
        </p:txBody>
      </p:sp>
      <p:pic>
        <p:nvPicPr>
          <p:cNvPr id="15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4036" y="5002053"/>
            <a:ext cx="1234441" cy="197501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3"/>
          <p:cNvSpPr txBox="1"/>
          <p:nvPr/>
        </p:nvSpPr>
        <p:spPr>
          <a:xfrm>
            <a:off x="2468760" y="5248869"/>
            <a:ext cx="1453507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59" name="Text 4"/>
          <p:cNvSpPr txBox="1"/>
          <p:nvPr/>
        </p:nvSpPr>
        <p:spPr>
          <a:xfrm>
            <a:off x="2468760" y="5782747"/>
            <a:ext cx="5811204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defRPr>
            </a:lvl1pPr>
          </a:lstStyle>
          <a:p>
            <a:pPr/>
            <a:r>
              <a:t>We appreciate your attention and are happy to answer any questions.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